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59" r:id="rId6"/>
    <p:sldId id="260" r:id="rId7"/>
    <p:sldId id="264" r:id="rId8"/>
    <p:sldId id="262" r:id="rId9"/>
    <p:sldId id="263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5054-FFBB-169B-93B0-DB3DA0856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B92C6-0DBF-BA75-1230-B44A20CDC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FB2C2-622E-85C9-9FED-41B2ECB02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54599-0354-BAC5-083B-974424CA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E180E-1A3B-4760-9A04-4D6C7563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CDC3-5E6B-442E-E5A1-70FBAEBB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9F74B-3B06-E800-1608-C687E2C0C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2DC07-A018-7A05-C12F-B756571C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CEBE0-490A-CF73-1008-4694AD32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A50F-3319-119B-719B-BE7DDF02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0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E0A4-2254-8A33-A033-BC980FA1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D224F-9379-A028-7770-942FDF9A1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2CF66-4F8B-C70B-663E-F6FBFFA0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05014-6471-1AC6-DB09-60702E90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55856-5161-58BA-66CA-BBD76219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5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D350-772D-975A-46BA-B11960A5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57350-82C1-D5A0-C82F-0CB17892F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C6300-C2A1-230F-5BDC-BACC99294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787D2-8E08-F3CF-38DD-CD007C84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0A699-610C-3E13-443B-F91CE6F6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19699-4C51-4768-983F-2D268202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5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9214-8815-63BC-4672-57325B74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C762A-4AE4-DCFB-51D1-4DF7922A2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96440-B619-3B64-0406-CB6B58694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224B9-EDE6-4F2C-CEAD-45E953E44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77AF2-CB95-A4CA-9DB9-BEA7E7E67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BF5B8-E824-22E3-78AF-B893C937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07374-8BEB-A72F-DE45-1F886DA4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3105D1-04C2-4F21-23CE-F9767CE6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0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4D1-71AC-5A62-9591-B8A1E3A7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4782-1AE0-8A3F-81FC-3FEED4E3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5D19B-CEA8-5217-3E99-87D8F638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31B8D-0ED2-3F90-A46A-3C70F85D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3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1AAFF-0B11-42B9-5947-FE96F3197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79FC6-CCF1-8A7E-B78D-4BAA7C9C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880D-D8F3-12AC-CA26-E78A95A7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D00E-5101-D4FE-0D56-2BC5A1353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710F6-700D-7EDE-58A1-5ACBDFAD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98CEC-EA92-BBBC-A5EA-CAEEB7DD0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D6273-4767-FD3D-C625-E3341DD7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87D16-8F49-A0EC-29AD-CA4FAC4C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C4DEC-AA76-0319-D5FD-E4096D1D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D566-68F4-8A32-D91F-9C8999AC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2802E-DB17-5EF4-40F1-BC6F50EC4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A6BDD-89FF-EED1-6B41-336D53679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21BBC-C77E-71F8-AD76-293A4946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80CFF-1B1C-6099-6EEA-EF3F7E3F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4D70F-B57F-CBB6-69A7-4918D33A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2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4576-D487-DE61-3813-020F155F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0B0A6-B597-0DEF-1143-84BD72811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B117A-0E56-FA00-8DD7-80BB65D2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6D8AC-0178-D741-6CF9-6728860B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FB69-38A5-D415-85C8-B04D6FC4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3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C08BB-5FB5-9C76-4BAC-B75137DB6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31FDF-7C29-C056-5DCD-DEAB97F25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A4F53-41CF-4EED-32B7-80706272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67AB0-A1C8-6FD0-43E2-62B9D06A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20C89-EC3A-6568-4815-792CEE76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5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96A7E-DDE5-DAC6-7A61-B121C6DE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2BD5A-E351-FF61-205B-A2536DF33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E98EC-A3D8-911C-8820-B1560E24E0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DE178-DD5A-4F03-A3CC-6EEBC03139FE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0D1C8-4888-4EF3-CFB6-DD306C84D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A2A3-3B1E-F202-3446-D913CD177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B37E609F-90DB-792B-896C-E862CF204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46932" y="1535611"/>
            <a:ext cx="8451161" cy="100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 dirty="0">
                <a:solidFill>
                  <a:schemeClr val="accent1"/>
                </a:solidFill>
              </a:rPr>
              <a:t>TRANSACTION INSIGHTS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7B4CE4D-0839-A265-6EE8-BCAB4229E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Mohan raj </a:t>
            </a:r>
          </a:p>
          <a:p>
            <a:r>
              <a:rPr lang="en-US" dirty="0"/>
              <a:t>Sr Component Engineer 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87C116-93CE-DB5B-026C-F13FB7685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747" y="-165095"/>
            <a:ext cx="9471911" cy="220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8052-36D2-991C-DEA2-FB258205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OBJECTIVE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8CD6-FF7E-B1BF-3AD1-CC9FAE0D7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To develop a comprehensive geo-analytical dashboard that leverages digital payment data to uncover transaction patterns, user engagement trends, and insurance adoption across </a:t>
            </a:r>
            <a:r>
              <a:rPr lang="en-US" sz="2600" dirty="0" err="1">
                <a:solidFill>
                  <a:schemeClr val="accent1">
                    <a:lumMod val="50000"/>
                  </a:schemeClr>
                </a:solidFill>
              </a:rPr>
              <a:t>india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0" indent="0" algn="just">
              <a:buNone/>
            </a:pP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The project aims to deliver actionable insights through category-wise analysis, geographic visualizations, and performance benchmarking at state, district enabling data-driven decision-making for fintech stakeholders and policy planners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813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10A2-CBB6-D9CE-8902-4C6CB80C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628163" cy="76029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SCOPE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C423-5F12-D9CD-065B-7C2D0FCB7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416"/>
            <a:ext cx="10515600" cy="5051547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Customer segmentation analyze: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User-level transaction patterns to identify distinct customer segments based on spending behavior, enabling personalized marketing and product targeting.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Geographical insights map: </a:t>
            </a:r>
            <a:r>
              <a:rPr lang="en-US" sz="26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valuate payment trends across states to uncover regional variations, support location-based strategies.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User engagement analysis: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Monitor user activity metrics to assess engagement levels, identify agitate risks, and inform strategies that enhance retention and overall user satisfaction.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Insurance transaction insights: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Examine insurance-related payment data to evaluate adoption rates, user preferences, and product performance—guiding improvements in offerings and customer experience.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Chronological trend analysis: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Track and visualize transaction trends over time to detect seasonal patterns, forecast demand fluctuations, and support strategic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35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45A7-2EF6-9F49-37D2-5989F445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 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403BD-B59C-5113-F920-09FEBBB1C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200" i="1" dirty="0">
                <a:solidFill>
                  <a:schemeClr val="accent1">
                    <a:lumMod val="50000"/>
                  </a:schemeClr>
                </a:solidFill>
              </a:rPr>
              <a:t>Data wrangling: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python, pandas</a:t>
            </a:r>
          </a:p>
          <a:p>
            <a:r>
              <a:rPr lang="en-US" sz="3200" i="1" dirty="0">
                <a:solidFill>
                  <a:schemeClr val="accent1">
                    <a:lumMod val="50000"/>
                  </a:schemeClr>
                </a:solidFill>
              </a:rPr>
              <a:t>Visualization: </a:t>
            </a:r>
            <a:r>
              <a:rPr lang="en-US" dirty="0"/>
              <a:t>matplotlib ,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plotly, seaborn, streamlit</a:t>
            </a:r>
          </a:p>
          <a:p>
            <a:r>
              <a:rPr lang="en-US" sz="3200" i="1" dirty="0">
                <a:solidFill>
                  <a:schemeClr val="accent1">
                    <a:lumMod val="50000"/>
                  </a:schemeClr>
                </a:solidFill>
              </a:rPr>
              <a:t>Geospatial mapping: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geojson, plotly choropleth</a:t>
            </a:r>
          </a:p>
          <a:p>
            <a:r>
              <a:rPr lang="en-US" sz="3200" i="1" dirty="0">
                <a:solidFill>
                  <a:schemeClr val="accent1">
                    <a:lumMod val="50000"/>
                  </a:schemeClr>
                </a:solidFill>
              </a:rPr>
              <a:t>Dashboard deployment: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streamlit with modular UI and emoji-enhanced interactivity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F179-BF6C-1C33-D65C-B89AF969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22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DATA EXTRACTION AND DATA FRAME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890BF-614A-CCD9-46AC-9F0DAA4A3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134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PhonePe pulse data extraction from GitHub repository.</a:t>
            </a:r>
          </a:p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Extraction of the pulse data is done by ‘clone’ method into the local drive</a:t>
            </a:r>
          </a:p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Accessing the folder with nested for loops to extract the data</a:t>
            </a:r>
          </a:p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Dataframe is created  with required input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/>
            <a:endParaRPr lang="en-US" sz="1600" dirty="0"/>
          </a:p>
          <a:p>
            <a:r>
              <a:rPr lang="en-US" sz="1600" dirty="0"/>
              <a:t>		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FFA5E-5034-5B4A-3B07-706F17D27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7" y="3756073"/>
            <a:ext cx="7906043" cy="287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0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3680-CE67-85D1-60A6-1F0DDD86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087"/>
          </a:xfrm>
        </p:spPr>
        <p:txBody>
          <a:bodyPr/>
          <a:lstStyle/>
          <a:p>
            <a:r>
              <a:rPr lang="en-US" sz="4000" b="1" dirty="0">
                <a:solidFill>
                  <a:schemeClr val="accent1"/>
                </a:solidFill>
              </a:rPr>
              <a:t>DATA EXTRACTION AND DATAFRAME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E121-CD52-1FDB-5777-D9EBE9D52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Extracted data is validated for there “</a:t>
            </a:r>
            <a:r>
              <a:rPr lang="en-US" sz="2600" dirty="0" err="1">
                <a:solidFill>
                  <a:schemeClr val="accent1">
                    <a:lumMod val="50000"/>
                  </a:schemeClr>
                </a:solidFill>
              </a:rPr>
              <a:t>dtype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 “,” non-null count”,” column”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If duplicate are found same is removed from the DF 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Then the cleaned data is stored to the ‘MY SQL”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B55E8-6464-1AF5-053A-486447053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44" y="3900488"/>
            <a:ext cx="8114787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05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0CC2-D00B-460E-4A45-487DA2EA4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DATA EXTRACTION AND DATAFRAME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CD24-368C-0A02-7FB3-025C6EAD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27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Geo-Insight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In case of geo-insight across the Indian states I have used “</a:t>
            </a:r>
            <a:r>
              <a:rPr lang="en-US" sz="2600" dirty="0" err="1">
                <a:solidFill>
                  <a:schemeClr val="accent1">
                    <a:lumMod val="50000"/>
                  </a:schemeClr>
                </a:solidFill>
              </a:rPr>
              <a:t>geojson_url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”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Mapping the states id from table to the state list in the geojson is complex due to the mismatch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Using map function all the state is mapped to geojson and created a column name “</a:t>
            </a:r>
            <a:r>
              <a:rPr lang="en-US" sz="2600" dirty="0" err="1">
                <a:solidFill>
                  <a:schemeClr val="accent1">
                    <a:lumMod val="50000"/>
                  </a:schemeClr>
                </a:solidFill>
              </a:rPr>
              <a:t>state_cleaned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”  which is used for further analysis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0F96D-92AD-828A-B531-5983B9C69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46" y="4146915"/>
            <a:ext cx="915352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9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F827-F5A8-0F2B-ABFF-D9C4402E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02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SQL DATABASE AND TABLE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523B-6B3E-B44B-5265-CF0DEAD8F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604"/>
            <a:ext cx="10515600" cy="5574617"/>
          </a:xfrm>
        </p:spPr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Set up a connection between your cleaned DataFrame and  MySQL database using ‘sqlalchemy’s ‘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Define MySQL credentials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Creates A connection engine that lets pandas or sqlalchemy's talk to your MySQL database.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Create a database in my SQL with the name “PhonePe ”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Finally moved the created DataFrame to ‘My SQL’ under the database “PhonePe”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300F1-8608-0F0B-6FF4-07B2082BE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58" y="4625974"/>
            <a:ext cx="3094307" cy="186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ED1AA-852F-9A25-3AB2-62E4AF23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787" y="4342909"/>
            <a:ext cx="7018899" cy="240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B47E-4FDE-E4B7-EF91-6EED81E3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DATA ANALYSIS – BUSINESS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0722F-8704-7B53-35FB-598DD7689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Based on the use cases tables from the “my SQL” is pulled in for further analysis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 Example- customer segmentation - transaction type vs transaction count – query are used for data manipulation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Manipulated data is stored in the DF for further utilization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4331A-071C-E76F-2589-EEC124BC3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02" y="4079631"/>
            <a:ext cx="7364877" cy="258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0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47C2-542E-7011-7107-F0C98234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Data Visualizations-Customer Segmentation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 </a:t>
            </a:r>
            <a:br>
              <a:rPr lang="en-US" sz="3600" b="1" dirty="0">
                <a:solidFill>
                  <a:schemeClr val="accent1"/>
                </a:solidFill>
              </a:rPr>
            </a:b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A3A3A-6ECD-0AB8-4266-B4860A99B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8634"/>
            <a:ext cx="5181600" cy="4798329"/>
          </a:xfrm>
        </p:spPr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Among all the transaction type across years top contributor within customer base is “merchant payment”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Least is the financial services </a:t>
            </a:r>
          </a:p>
          <a:p>
            <a:pPr marL="0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We can conclude more customer base can be built by focusing on the merchants and peer to peer payments methods </a:t>
            </a:r>
          </a:p>
          <a:p>
            <a:pPr marL="0" indent="0">
              <a:buNone/>
            </a:pPr>
            <a:r>
              <a:rPr lang="en-US" i="1" dirty="0"/>
              <a:t>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6814C2-4C46-8DEA-DD6B-5FF81820AA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378634"/>
            <a:ext cx="5588391" cy="479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638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C13F-380C-F189-87ED-1AD3F451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29359"/>
            <a:ext cx="10515600" cy="83062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DATA VISUALIZATIONS-CUSTOMER SEGMENTATION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 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3C3BB-5DF5-CEDE-4E24-9E561DDBA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981" y="1793020"/>
            <a:ext cx="5181600" cy="4742058"/>
          </a:xfrm>
        </p:spPr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Transaction amount vs years will give a clear insight on India's growth on the digital payment 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2018 -2020 was the year the word digital payment was picking up  among Indian populations </a:t>
            </a:r>
          </a:p>
          <a:p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From 2021 growth was phenomenon  with exceptional transaction amount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F44BC3-DBEB-D6C0-E17A-A144D03A6E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434905"/>
            <a:ext cx="5588391" cy="472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95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A9FD-B400-FA53-13F6-F532FAE6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GEOGRAPHICAL ANALYSIS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1640A-C9FB-307F-D219-191CE2FB5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34905"/>
            <a:ext cx="5181600" cy="505797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Most transaction was made in the state Maharashtra and Karnataka surpassing 40 trillions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Maharashtra is the financial capital of India and most of the transaction from Karnataka are from Bangalore IT hub 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More focus can be made in the north east states where internet accessibility is low.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Also states like Tamilnadan and Andhra are to be focused since more customer are available </a:t>
            </a:r>
          </a:p>
          <a:p>
            <a:pPr marL="0" indent="0">
              <a:buNone/>
            </a:pPr>
            <a:r>
              <a:rPr lang="en-US" i="1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3E1CAA-B742-1914-2FDE-D2E6057E6B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34905"/>
            <a:ext cx="5630594" cy="505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64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5872F3-726C-79AA-46EA-6218E798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GEOGRAPHICAL ANALYSIS-DISTRICTS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06D5DE2-282D-AB1C-26CD-A26FBD4408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In line with the comment in the above slide “Bangalore urban contribute highest among the districts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A32848A-77AF-1429-6A46-52696FA9CE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4E29E8-4A59-BA93-2CE1-D9E62CB35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544" y="1927273"/>
            <a:ext cx="46986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4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17036-EDF9-B01D-DCB1-2D51BDAB4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INSURANCE INSIGHTS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E12B47-AE27-5F8D-77C6-45CA215F92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2138289"/>
            <a:ext cx="5181600" cy="418475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E5F79F-EE34-18BF-0F61-0620AD9E53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Top contribution districts is Bangalore urban and the least is the thane.</a:t>
            </a:r>
          </a:p>
          <a:p>
            <a:pPr marL="0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We do have metro cities with lesser transaction even though the per capita income  is higher in these districts . we can push the market in these areas</a:t>
            </a:r>
          </a:p>
        </p:txBody>
      </p:sp>
    </p:spTree>
    <p:extLst>
      <p:ext uri="{BB962C8B-B14F-4D97-AF65-F5344CB8AC3E}">
        <p14:creationId xmlns:p14="http://schemas.microsoft.com/office/powerpoint/2010/main" val="78821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55A8-95F4-9FBB-BE0F-287172377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INSURANCE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D8C7-0409-4CE9-AA38-3500C0E03F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Most insurance transaction was made in the state Maharashtra and Karnataka.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3628A9-85BC-C7E9-A4E9-272277B68C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44985"/>
            <a:ext cx="5461782" cy="454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9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6D64-2F81-7225-8744-82661DFA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70912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TREND ANALYSIS-ANTICIPATED DEMAND FLUCTUATIONS</a:t>
            </a:r>
            <a:br>
              <a:rPr lang="en-US" b="1" dirty="0">
                <a:solidFill>
                  <a:schemeClr val="accent1"/>
                </a:solidFill>
              </a:rPr>
            </a:b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7969E-B971-D57B-AB0A-7E673BE75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998" y="2034690"/>
            <a:ext cx="5181600" cy="4351338"/>
          </a:xfrm>
        </p:spPr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Q3 and Q4 are the top demand quarter among the all. </a:t>
            </a:r>
          </a:p>
          <a:p>
            <a:pPr marL="0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I believe the festival demand and offers related the festival have increase the demands 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Q1 and q2 are the least </a:t>
            </a:r>
          </a:p>
          <a:p>
            <a:pPr marL="0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Still, 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 could able to see the demand in 2023 -24 across quarters because of more online transaction and its growth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A3E199-5226-7107-8892-B09D6C44B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656066"/>
            <a:ext cx="5630594" cy="482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40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E741-8C81-9F89-7F95-DE4368CE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USER ENGAGEMENT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F4FB0-1DAF-724E-1630-6B83A6406A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It was strange to see brand like “other” have contributed more in the app usage </a:t>
            </a:r>
          </a:p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Top brands like </a:t>
            </a:r>
            <a:r>
              <a:rPr lang="en-US" sz="2600" dirty="0" err="1">
                <a:solidFill>
                  <a:schemeClr val="accent1">
                    <a:lumMod val="50000"/>
                  </a:schemeClr>
                </a:solidFill>
              </a:rPr>
              <a:t>samsung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, apple ,moto are lagging behind the </a:t>
            </a:r>
            <a:r>
              <a:rPr lang="en-US" sz="2600" dirty="0" err="1">
                <a:solidFill>
                  <a:schemeClr val="accent1">
                    <a:lumMod val="50000"/>
                  </a:schemeClr>
                </a:solidFill>
              </a:rPr>
              <a:t>chinese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 brands.</a:t>
            </a:r>
          </a:p>
          <a:p>
            <a:pPr marL="0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Data is upsetting for top brands 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C65EC5-334C-6696-78DA-0DFF282F74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25625"/>
            <a:ext cx="5181600" cy="454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59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DA66-4029-4A05-3767-FCE90EFF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USER ENGAGEMENT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0F896-3ACA-CE41-714D-28C211256E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Scenarios remains the same for the registered users across the brands</a:t>
            </a:r>
          </a:p>
          <a:p>
            <a:pPr marL="0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</a:rPr>
              <a:t>May be budget friendly brands have more customer base across the country 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269091-E5B1-AFFD-B1D3-F22D560D76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3022" y="1825625"/>
            <a:ext cx="50999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58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6A0705-A19D-FA02-5CB7-D44EF760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27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chemeClr val="accent1">
                    <a:lumMod val="75000"/>
                  </a:schemeClr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41984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5048</TotalTime>
  <Words>874</Words>
  <Application>Microsoft Office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TRANSACTION INSIGHTS</vt:lpstr>
      <vt:lpstr>OBJECTIVE </vt:lpstr>
      <vt:lpstr>SCOPE OF WORK</vt:lpstr>
      <vt:lpstr> TOOLS &amp; TECHNOLOGIES</vt:lpstr>
      <vt:lpstr>DATA EXTRACTION AND DATA FRAME CREATION</vt:lpstr>
      <vt:lpstr>DATA EXTRACTION AND DATAFRAME CREATION</vt:lpstr>
      <vt:lpstr>DATA EXTRACTION AND DATAFRAME CREATION</vt:lpstr>
      <vt:lpstr>SQL DATABASE AND TABLE CREATION</vt:lpstr>
      <vt:lpstr>DATA ANALYSIS – BUSINESS USE CASES</vt:lpstr>
      <vt:lpstr>Data Visualizations-Customer Segmentation   </vt:lpstr>
      <vt:lpstr>DATA VISUALIZATIONS-CUSTOMER SEGMENTATION   </vt:lpstr>
      <vt:lpstr>GEOGRAPHICAL ANALYSIS </vt:lpstr>
      <vt:lpstr>GEOGRAPHICAL ANALYSIS-DISTRICTS </vt:lpstr>
      <vt:lpstr>INSURANCE INSIGHTS </vt:lpstr>
      <vt:lpstr>INSURANCE INSIGHTS </vt:lpstr>
      <vt:lpstr>TREND ANALYSIS-ANTICIPATED DEMAND FLUCTUATIONS  </vt:lpstr>
      <vt:lpstr>USER ENGAGEMENT </vt:lpstr>
      <vt:lpstr>USER ENGAGEMENT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mohanrajmas19@gmail.com</dc:creator>
  <cp:lastModifiedBy>mohanrajmas19@gmail.com</cp:lastModifiedBy>
  <cp:revision>4</cp:revision>
  <dcterms:created xsi:type="dcterms:W3CDTF">2025-10-22T18:25:53Z</dcterms:created>
  <dcterms:modified xsi:type="dcterms:W3CDTF">2025-10-26T06:34:28Z</dcterms:modified>
</cp:coreProperties>
</file>